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Running
Shoe A</c:v>
                </c:pt>
                <c:pt idx="1">
                  <c:v>Running
Shoe B</c:v>
                </c:pt>
                <c:pt idx="2">
                  <c:v>Running
Shoe C</c:v>
                </c:pt>
                <c:pt idx="3">
                  <c:v>Trail
Boot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0.74</c:v>
                </c:pt>
                <c:pt idx="2">
                  <c:v>0.61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80-44CF-BF4D-1A38F25186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28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52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4343400"/>
            <a:ext cx="2468880" cy="2468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Utility-Based Agent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Recommendations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utility values to product options and optimizing user satisfaction through large-scale data processing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972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|  AI Agent Architectures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Utility-Based Agent?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utility-based agent doesn't just react to input or chase a single goal — it evaluates every possible action against a measurable notion of “how good” the outcome is, then picks the action that maximizes that value.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53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807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e-commerce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127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product is a possible action; utility estimates the satisfaction the shopper would gain from seeing or buying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6052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01421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goal-based agents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33425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agents ask “does this satisfy the goal?” Utility-based agents ask “by how much, compared to the alternatives?”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3675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2212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ranked action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554126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outputs a ranked list of products — the ranking itself is the decision.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1280160"/>
            <a:ext cx="5074920" cy="507492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0" y="15087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Sophistication Spectrum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0" y="205740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04088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40880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→ action rule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938260" y="2971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315468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40880" y="3246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7040880" y="35935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internal state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938260" y="4069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858000" y="425196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40880" y="4343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040880" y="46908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to satisfy a binary goal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938260" y="5166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858000" y="5349240"/>
            <a:ext cx="4434840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5440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040880" y="57881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outcomes by measured value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Architecture: From Percepts to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989734" cy="274320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287475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47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14600"/>
            <a:ext cx="1770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" y="3017520"/>
            <a:ext cx="169712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clicks, search terms, cart adds, page context, device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2547518" y="2770632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794406" y="1600200"/>
            <a:ext cx="1989734" cy="274320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33242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14" y="19751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4134" y="2514600"/>
            <a:ext cx="1770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40710" y="3017520"/>
            <a:ext cx="169712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model: user profile, session intent, inventory state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793285" y="2770632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40173" y="1600200"/>
            <a:ext cx="1989734" cy="27432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185623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9751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9901" y="2514600"/>
            <a:ext cx="1770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6477" y="3017520"/>
            <a:ext cx="169712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candidate product against weighted preference criteria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7039051" y="2770632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285939" y="1600200"/>
            <a:ext cx="1989734" cy="274320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3" name="Shape 18"/>
          <p:cNvSpPr/>
          <p:nvPr/>
        </p:nvSpPr>
        <p:spPr>
          <a:xfrm>
            <a:off x="8024774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646" y="197510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5667" y="2514600"/>
            <a:ext cx="1770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32243" y="3017520"/>
            <a:ext cx="169712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/ rank the action (product set) with highest expected utility</a:t>
            </a:r>
            <a:endParaRPr lang="en-US" sz="980" dirty="0"/>
          </a:p>
        </p:txBody>
      </p:sp>
      <p:sp>
        <p:nvSpPr>
          <p:cNvPr id="27" name="Text 21"/>
          <p:cNvSpPr/>
          <p:nvPr/>
        </p:nvSpPr>
        <p:spPr>
          <a:xfrm>
            <a:off x="9284818" y="2770632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531706" y="1600200"/>
            <a:ext cx="1989734" cy="274320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70541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icons/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413" y="197510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1434" y="2514600"/>
            <a:ext cx="1770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78010" y="3017520"/>
            <a:ext cx="169712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views, clicks, or purchases — outcome observed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observed outcomes retrain state estimation &amp; utility weights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815584" y="52120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5" name="Image 5" descr="/home/claude/icons/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456" y="533095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200400" y="57607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re-scoring as new signals arrive — the loop never stops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Utility Score?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product is scored on multiple weighted attributes — the utility function blends them into a single comparable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219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939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to query, browsing intent, and category affinity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2219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0939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2628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the user's historical or session price band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2219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0" y="20939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7532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review volume, and return-rate quality score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icons/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4165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288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Affinity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9377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to past purchases, saves, and click history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06908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2628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icons/rand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4165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0" y="4288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/ Novelty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26280" y="49377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redundant results; rewards useful discovery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4069080"/>
            <a:ext cx="3520440" cy="196596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31" name="Shape 24"/>
          <p:cNvSpPr/>
          <p:nvPr/>
        </p:nvSpPr>
        <p:spPr>
          <a:xfrm>
            <a:off x="827532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icons/box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41655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69680" y="4288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Constraints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275320" y="49377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stock availability, delivery time, promotions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Products: The Utility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21208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U(p) = </a:t>
            </a:r>
            <a:r>
              <a:rPr lang="en-US" sz="2200" b="1" dirty="0">
                <a:solidFill>
                  <a:srgbClr val="F2A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000" b="1" dirty="0">
                <a:solidFill>
                  <a:srgbClr val="F2A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w</a:t>
            </a: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f</a:t>
            </a: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(p)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U(p) = utility of product p   ·   wᵢ = weight of factor i   ·   fᵢ(p) = normalized score of product p on factor 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(wᵢ) are not fixed — they're learned per user segment and continuously re-tuned from engagement and conversion feedback.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weight allocation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050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4078224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4078224"/>
            <a:ext cx="2743200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40325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Affinity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4370832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331720" y="4370832"/>
            <a:ext cx="1959429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4325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4663440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9" name="Shape 17"/>
          <p:cNvSpPr/>
          <p:nvPr/>
        </p:nvSpPr>
        <p:spPr>
          <a:xfrm>
            <a:off x="2331720" y="4663440"/>
            <a:ext cx="1410789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4617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9286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4956048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4956048"/>
            <a:ext cx="940526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4910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52212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5248656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5248656"/>
            <a:ext cx="470263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52029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513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31720" y="5541264"/>
            <a:ext cx="2743200" cy="16459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31" name="Shape 29"/>
          <p:cNvSpPr/>
          <p:nvPr/>
        </p:nvSpPr>
        <p:spPr>
          <a:xfrm>
            <a:off x="2331720" y="5541264"/>
            <a:ext cx="313509" cy="16459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54955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4 Candidate Products</a:t>
            </a:r>
            <a:endParaRPr lang="en-US" sz="13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6126480" y="1691640"/>
          <a:ext cx="54864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Shape 32"/>
          <p:cNvSpPr/>
          <p:nvPr/>
        </p:nvSpPr>
        <p:spPr>
          <a:xfrm>
            <a:off x="6126480" y="5074920"/>
            <a:ext cx="5486400" cy="96012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36" name="Shape 33"/>
          <p:cNvSpPr/>
          <p:nvPr/>
        </p:nvSpPr>
        <p:spPr>
          <a:xfrm>
            <a:off x="6309360" y="5257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0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5376672"/>
            <a:ext cx="219456" cy="21945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903720" y="5230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A wins the top slot </a:t>
            </a:r>
            <a:r>
              <a:rPr lang="en-US" sz="108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the cheapest or highest-rated alone, but the best weighted blend of relevance, fit, and quality.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Powering Utility Scoring at Scale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values are only as good as the data pipeline computing them — millions of products and users scored in real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3746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70482" y="2057400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54" y="21762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697480"/>
            <a:ext cx="2318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090672"/>
            <a:ext cx="22082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Clickstream, catalog, inventory &amp; pricing feeds streamed continuously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95244" y="27203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60420" y="1828800"/>
            <a:ext cx="253746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382262" y="2057400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34" y="21762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0148" y="2697480"/>
            <a:ext cx="2318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5012" y="3090672"/>
            <a:ext cx="22082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product embeddings, rolling behavioral aggregates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07024" y="27203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172200" y="1828800"/>
            <a:ext cx="253746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194042" y="2057400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2" descr="/home/claude/icons/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14" y="217627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81928" y="2697480"/>
            <a:ext cx="2318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36792" y="3090672"/>
            <a:ext cx="22082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inference computes fᵢ(p) for thousands of candidates per request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18804" y="27203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8983980" y="1828800"/>
            <a:ext cx="253746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05822" y="2057400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3" descr="/home/claude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4694" y="217627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93708" y="2697480"/>
            <a:ext cx="2318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Serving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48572" y="3090672"/>
            <a:ext cx="22082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Utility-ranked list returned within milliseconds of the request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62356" y="4343400"/>
            <a:ext cx="3566160" cy="1417320"/>
          </a:xfrm>
          <a:prstGeom prst="rect">
            <a:avLst/>
          </a:prstGeom>
          <a:solidFill>
            <a:srgbClr val="1E2761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62356" y="4480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400" dirty="0"/>
          </a:p>
        </p:txBody>
      </p:sp>
      <p:sp>
        <p:nvSpPr>
          <p:cNvPr id="30" name="Text 24"/>
          <p:cNvSpPr/>
          <p:nvPr/>
        </p:nvSpPr>
        <p:spPr>
          <a:xfrm>
            <a:off x="790956" y="5184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scored per catalog refresh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311396" y="4343400"/>
            <a:ext cx="3566160" cy="1417320"/>
          </a:xfrm>
          <a:prstGeom prst="rect">
            <a:avLst/>
          </a:prstGeom>
          <a:solidFill>
            <a:srgbClr val="1E2761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311396" y="4480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&lt;100ms</a:t>
            </a:r>
            <a:endParaRPr lang="en-US" sz="3400" dirty="0"/>
          </a:p>
        </p:txBody>
      </p:sp>
      <p:sp>
        <p:nvSpPr>
          <p:cNvPr id="33" name="Text 27"/>
          <p:cNvSpPr/>
          <p:nvPr/>
        </p:nvSpPr>
        <p:spPr>
          <a:xfrm>
            <a:off x="4539996" y="5184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scoring latency budget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060436" y="4343400"/>
            <a:ext cx="3566160" cy="1417320"/>
          </a:xfrm>
          <a:prstGeom prst="rect">
            <a:avLst/>
          </a:prstGeom>
          <a:solidFill>
            <a:srgbClr val="1E2761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060436" y="4480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3400" dirty="0"/>
          </a:p>
        </p:txBody>
      </p:sp>
      <p:sp>
        <p:nvSpPr>
          <p:cNvPr id="36" name="Text 30"/>
          <p:cNvSpPr/>
          <p:nvPr/>
        </p:nvSpPr>
        <p:spPr>
          <a:xfrm>
            <a:off x="8289036" y="5184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 per user profile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for Long-Run Satisfaction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utility isn't a one-shot calculation — the agent continuously refines it through a closed feedback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246888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2677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utility-ranked list to the shopper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81528" y="2907792"/>
            <a:ext cx="283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83280" y="1874520"/>
            <a:ext cx="2514600" cy="246888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6626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26771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6616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clicks, dwell time, add-to-cart, purchase or skip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916168" y="2907792"/>
            <a:ext cx="283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217920" y="1874520"/>
            <a:ext cx="2514600" cy="246888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0" name="Shape 16"/>
          <p:cNvSpPr/>
          <p:nvPr/>
        </p:nvSpPr>
        <p:spPr>
          <a:xfrm>
            <a:off x="72009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226771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5508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realized reward to predicted utility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750808" y="2907792"/>
            <a:ext cx="283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9052560" y="1874520"/>
            <a:ext cx="2514600" cy="246888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27" name="Shape 22"/>
          <p:cNvSpPr/>
          <p:nvPr/>
        </p:nvSpPr>
        <p:spPr>
          <a:xfrm>
            <a:off x="1003554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26771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0996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8972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23544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wᵢ via online learning / gradient updates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4480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loop feeds back into Recommend — utility weights improve with every interaction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5074920"/>
            <a:ext cx="109728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Shape 28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5" name="Image 4" descr="/home/claude/icons/rand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422392"/>
            <a:ext cx="265176" cy="2651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08760" y="523036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vs. exploit: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occasionally surfaces slightly lower-utility items to gather fresh signal on new products and shifting preferences — preventing the model from overfitting to past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Design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512064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1371600"/>
            <a:ext cx="5349240" cy="5120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41401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25856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multiple, competing objectives in one comparable score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4198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nuanced trade-offs a binary goal-based rule would miss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4256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2702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continuously as weights are re-learned from feedback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54315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27608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recommendations with both user satisfaction and business goals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1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76479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92240" y="241401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/>
          <p:nvPr/>
        </p:nvSpPr>
        <p:spPr>
          <a:xfrm>
            <a:off x="6766560" y="225856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and validating weights requires reliable feedback signal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92240" y="34198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32644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at catalog scale demands heavy infrastructure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442569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42702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Over-optimizing short-term utility can crowd out discovery &amp; diversity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54315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527608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“why this product” becomes harder as factors multiply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05840" cy="274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26060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668780" y="22402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652" y="23591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over rules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quantifies satisfaction rather than following fixed if-this-then-that logic.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1920240"/>
            <a:ext cx="26060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503420" y="22402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/home/claude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23591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scoring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57600" y="356616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price fit, quality, affinity, diversity, and business rules combine into one score.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1920240"/>
            <a:ext cx="26060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338060" y="22402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/home/claude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32" y="23591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the constraint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2240" y="356616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only useful if it can be computed for millions of products in milliseconds.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44000" y="1920240"/>
            <a:ext cx="26060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172700" y="22402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3" descr="/home/claude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1572" y="23591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static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26880" y="356616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continuously re-learned from real user outcomes, closing the loop.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utility-based agent turns “what can we show the shopper” into “what will make this shopper most satisfied — measured, ranked, and continuously improved.”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Hemanth kumar</cp:lastModifiedBy>
  <cp:revision>1</cp:revision>
  <dcterms:created xsi:type="dcterms:W3CDTF">2026-08-19T15:26:33Z</dcterms:created>
  <dcterms:modified xsi:type="dcterms:W3CDTF">2026-08-19T15:28:01Z</dcterms:modified>
</cp:coreProperties>
</file>